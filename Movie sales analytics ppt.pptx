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60" r:id="rId3"/>
    <p:sldId id="261" r:id="rId4"/>
    <p:sldId id="273" r:id="rId5"/>
    <p:sldId id="262" r:id="rId6"/>
    <p:sldId id="277" r:id="rId7"/>
    <p:sldId id="275" r:id="rId8"/>
    <p:sldId id="263" r:id="rId9"/>
    <p:sldId id="264" r:id="rId10"/>
    <p:sldId id="274" r:id="rId11"/>
    <p:sldId id="265" r:id="rId12"/>
    <p:sldId id="276" r:id="rId13"/>
    <p:sldId id="267" r:id="rId14"/>
    <p:sldId id="268" r:id="rId15"/>
    <p:sldId id="259" r:id="rId16"/>
  </p:sldIdLst>
  <p:sldSz cx="12192000" cy="6858000"/>
  <p:notesSz cx="6858000" cy="9144000"/>
  <p:embeddedFontLst>
    <p:embeddedFont>
      <p:font typeface="Algerian" panose="04020705040A02060702" pitchFamily="82" charset="0"/>
      <p:regular r:id="rId18"/>
    </p:embeddedFont>
    <p:embeddedFont>
      <p:font typeface="Libre Baskerville" panose="02000000000000000000" pitchFamily="2" charset="0"/>
      <p:regular r:id="rId19"/>
      <p:bold r:id="rId20"/>
      <p: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1" roundtripDataSignature="AMtx7mhnFQsu0qTBRZ+C47HNp0tuHCNko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account" initials="Ma" lastIdx="0" clrIdx="0">
    <p:extLst>
      <p:ext uri="{19B8F6BF-5375-455C-9EA6-DF929625EA0E}">
        <p15:presenceInfo xmlns:p15="http://schemas.microsoft.com/office/powerpoint/2012/main" userId="e1fbe53b63b34d1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14652B-2A73-4104-B03F-E6B996EDC8B9}" v="41" dt="2025-11-14T18:40:36.6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17" autoAdjust="0"/>
    <p:restoredTop sz="94660"/>
  </p:normalViewPr>
  <p:slideViewPr>
    <p:cSldViewPr>
      <p:cViewPr>
        <p:scale>
          <a:sx n="70" d="100"/>
          <a:sy n="70" d="100"/>
        </p:scale>
        <p:origin x="652" y="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42" Type="http://schemas.openxmlformats.org/officeDocument/2006/relationships/commentAuthors" Target="commentAuthors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41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4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6764226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168014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981141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80349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27" name="Google Shape;2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39" name="Google Shape;3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5" y="0"/>
            <a:ext cx="1219081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905" y="3276600"/>
            <a:ext cx="7246189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br>
              <a:rPr lang="en-IN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IN" sz="1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/>
            <a:r>
              <a:rPr lang="en-US" sz="2800" b="1" dirty="0"/>
              <a:t>“Movie Sales Analytics”</a:t>
            </a:r>
            <a:endParaRPr lang="en-IN" sz="2800" b="1" dirty="0">
              <a:solidFill>
                <a:schemeClr val="tx1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Google Shape;99;p1">
            <a:extLst>
              <a:ext uri="{FF2B5EF4-FFF2-40B4-BE49-F238E27FC236}">
                <a16:creationId xmlns:a16="http://schemas.microsoft.com/office/drawing/2014/main" id="{E68B9E2B-6C84-69F2-6340-B2DD8D8B3115}"/>
              </a:ext>
            </a:extLst>
          </p:cNvPr>
          <p:cNvSpPr txBox="1"/>
          <p:nvPr/>
        </p:nvSpPr>
        <p:spPr>
          <a:xfrm>
            <a:off x="7332453" y="4648200"/>
            <a:ext cx="7246189" cy="2123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br>
              <a:rPr lang="en-IN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IN" sz="1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lang="en-US" sz="2400" dirty="0">
                <a:solidFill>
                  <a:schemeClr val="tx1"/>
                </a:solidFill>
                <a:latin typeface="Algerian" panose="04020705040A02060702" pitchFamily="82" charset="0"/>
              </a:rPr>
              <a:t>Guguloth Santhosh</a:t>
            </a:r>
          </a:p>
          <a:p>
            <a:r>
              <a:rPr lang="en-US" sz="2400" dirty="0">
                <a:solidFill>
                  <a:schemeClr val="tx1"/>
                </a:solidFill>
                <a:latin typeface="Algerian" panose="04020705040A02060702" pitchFamily="82" charset="0"/>
              </a:rPr>
              <a:t>Peddi Vamshi Krishna</a:t>
            </a:r>
          </a:p>
          <a:p>
            <a:r>
              <a:rPr lang="en-US" sz="2400" dirty="0">
                <a:solidFill>
                  <a:schemeClr val="tx1"/>
                </a:solidFill>
                <a:latin typeface="Algerian" panose="04020705040A02060702" pitchFamily="82" charset="0"/>
              </a:rPr>
              <a:t>Batch 403</a:t>
            </a:r>
          </a:p>
          <a:p>
            <a:r>
              <a:rPr lang="en-US" sz="2400" dirty="0" err="1">
                <a:solidFill>
                  <a:schemeClr val="tx1"/>
                </a:solidFill>
                <a:latin typeface="Algerian" panose="04020705040A02060702" pitchFamily="82" charset="0"/>
              </a:rPr>
              <a:t>dilsuknagar</a:t>
            </a:r>
            <a:endParaRPr lang="en-IN" sz="2400" dirty="0">
              <a:solidFill>
                <a:schemeClr val="tx1"/>
              </a:solidFill>
              <a:latin typeface="Algerian" panose="04020705040A02060702" pitchFamily="8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Contents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47800"/>
            <a:ext cx="10820400" cy="4881563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Cleaned Data</a:t>
            </a:r>
          </a:p>
          <a:p>
            <a:pPr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IN" dirty="0"/>
              <a:t>Conclusion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CC419-25D6-F0F6-42C0-F94701B08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34413-13B6-7295-F90F-146DD063D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65125"/>
            <a:ext cx="10972800" cy="701675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Introduction 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37E072-B5E0-EE43-4590-2DE0476A41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1066800"/>
            <a:ext cx="11734800" cy="5262563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Movie Sales Analytics helps understand how different factors influence a film’s box-office performance.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By analyzing sales trends, audience behavior, budgets, and marketing impact, we can identify what drives movie success.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This presentation highlights key insights that support data-driven decisions for producers, distributors, and investors.</a:t>
            </a:r>
            <a:endParaRPr lang="en-US" sz="2400" b="1" dirty="0"/>
          </a:p>
          <a:p>
            <a:pPr marL="114300" indent="0">
              <a:lnSpc>
                <a:spcPct val="120000"/>
              </a:lnSpc>
              <a:buNone/>
            </a:pPr>
            <a:endParaRPr lang="en-US" b="1" dirty="0"/>
          </a:p>
          <a:p>
            <a:pPr marL="114300" indent="0">
              <a:lnSpc>
                <a:spcPct val="120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 descr="Data Analytics in Film Industry: Audience Insights">
            <a:extLst>
              <a:ext uri="{FF2B5EF4-FFF2-40B4-BE49-F238E27FC236}">
                <a16:creationId xmlns:a16="http://schemas.microsoft.com/office/drawing/2014/main" id="{C92BB0C7-C8AA-FC8A-8211-D76187983E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3733800"/>
            <a:ext cx="3409950" cy="259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0222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C6832-891C-5317-AD4E-A148CCF20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Problem Statement :</a:t>
            </a:r>
            <a:endParaRPr lang="en-IN" sz="32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CE51EE-5F75-EBC1-40E3-5DE6520B1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24000"/>
            <a:ext cx="10515600" cy="4652963"/>
          </a:xfrm>
        </p:spPr>
        <p:txBody>
          <a:bodyPr/>
          <a:lstStyle/>
          <a:p>
            <a:r>
              <a:rPr lang="en-US" dirty="0"/>
              <a:t>Movie sales depend on multiple dynamic factors such as budget, genre, cast popularity, release season, and promotional spending. However, studios often lack a clear understanding of how these components individually and collectively shape box-office outcomes.</a:t>
            </a:r>
            <a:br>
              <a:rPr lang="en-US" dirty="0"/>
            </a:br>
            <a:r>
              <a:rPr lang="en-US" dirty="0"/>
              <a:t>This creates difficulty in predicting revenue, allocating budgets efficiently, and designing effective marketing strategies.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4141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A3DD8-12B5-1CA0-5421-0E721D77F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5"/>
            <a:ext cx="10896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83E664-97EF-1F9D-4447-487877B0DE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1219200"/>
            <a:ext cx="11049000" cy="4957763"/>
          </a:xfrm>
        </p:spPr>
        <p:txBody>
          <a:bodyPr/>
          <a:lstStyle/>
          <a:p>
            <a:pPr lvl="1"/>
            <a:r>
              <a:rPr lang="en-US" dirty="0"/>
              <a:t> </a:t>
            </a:r>
          </a:p>
          <a:p>
            <a:pPr lvl="1"/>
            <a:endParaRPr lang="en-US" sz="2800" dirty="0"/>
          </a:p>
          <a:p>
            <a:pPr lvl="1"/>
            <a:endParaRPr lang="en-US" sz="2800" dirty="0"/>
          </a:p>
          <a:p>
            <a:pPr lvl="1"/>
            <a:endParaRPr lang="en-US" sz="2800" dirty="0"/>
          </a:p>
          <a:p>
            <a:pPr lvl="1"/>
            <a:endParaRPr lang="en-IN" sz="2800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62BDB1C-F70D-2BA6-E8D7-3F1FE96BBE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-2362200"/>
            <a:ext cx="10058400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analyze box-office performance using historical movie sales data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identify key factors influencing movie success (budget, cast, genre, marketing, release timing)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evaluate audience trends and market behavior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provide insights that help producers and investors make data-driven decisions</a:t>
            </a:r>
          </a:p>
        </p:txBody>
      </p:sp>
    </p:spTree>
    <p:extLst>
      <p:ext uri="{BB962C8B-B14F-4D97-AF65-F5344CB8AC3E}">
        <p14:creationId xmlns:p14="http://schemas.microsoft.com/office/powerpoint/2010/main" val="2803203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DC8E0A0-DD94-0175-79F9-84A1798E2C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14400"/>
            <a:ext cx="11734800" cy="5181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83594CA-87E7-03FD-A9B9-FF4C0AF701BE}"/>
              </a:ext>
            </a:extLst>
          </p:cNvPr>
          <p:cNvSpPr txBox="1"/>
          <p:nvPr/>
        </p:nvSpPr>
        <p:spPr>
          <a:xfrm>
            <a:off x="262128" y="359140"/>
            <a:ext cx="72535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Cleaned Data </a:t>
            </a:r>
            <a:r>
              <a:rPr lang="en-US" sz="1800" b="1" dirty="0"/>
              <a:t>:</a:t>
            </a:r>
            <a:endParaRPr lang="en-IN" sz="1800" b="1" dirty="0"/>
          </a:p>
        </p:txBody>
      </p:sp>
    </p:spTree>
    <p:extLst>
      <p:ext uri="{BB962C8B-B14F-4D97-AF65-F5344CB8AC3E}">
        <p14:creationId xmlns:p14="http://schemas.microsoft.com/office/powerpoint/2010/main" val="610685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9F296DE3-9DC8-54B7-3367-7038529EB2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792" y="149352"/>
            <a:ext cx="5410200" cy="2898648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3C49F27-744B-50FE-1A32-DF74849CA4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0" y="103632"/>
            <a:ext cx="5486400" cy="2868168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F9C9EAE-15AA-A1F3-4BA9-4F6D4DE5BE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1" y="3200399"/>
            <a:ext cx="5422392" cy="2895887"/>
          </a:xfrm>
          <a:prstGeom prst="rect">
            <a:avLst/>
          </a:prstGeom>
        </p:spPr>
      </p:pic>
      <p:pic>
        <p:nvPicPr>
          <p:cNvPr id="12" name="Picture 11" descr="A screenshot of a graph&#10;&#10;AI-generated content may be incorrect.">
            <a:extLst>
              <a:ext uri="{FF2B5EF4-FFF2-40B4-BE49-F238E27FC236}">
                <a16:creationId xmlns:a16="http://schemas.microsoft.com/office/drawing/2014/main" id="{278C7041-6856-4500-4786-28759408DA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1200" y="3200400"/>
            <a:ext cx="5486400" cy="2895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715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F2DFF04-79B6-38EF-4EF7-089230D0DD47}"/>
              </a:ext>
            </a:extLst>
          </p:cNvPr>
          <p:cNvSpPr txBox="1"/>
          <p:nvPr/>
        </p:nvSpPr>
        <p:spPr>
          <a:xfrm>
            <a:off x="533400" y="533400"/>
            <a:ext cx="6781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Which movies generated the highest revenue overall?</a:t>
            </a:r>
            <a:endParaRPr lang="en-IN" sz="18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BFC9C86-B775-214B-F14C-A82B78AC7F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90601"/>
            <a:ext cx="3886200" cy="2286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48CF987-435C-2365-EF36-2BB1E65E9FAD}"/>
              </a:ext>
            </a:extLst>
          </p:cNvPr>
          <p:cNvSpPr txBox="1"/>
          <p:nvPr/>
        </p:nvSpPr>
        <p:spPr>
          <a:xfrm>
            <a:off x="563880" y="3602736"/>
            <a:ext cx="7772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Which directors consistently generate the highest total revenues?</a:t>
            </a:r>
            <a:endParaRPr lang="en-IN" sz="1800" b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D72D9E6-B04A-242C-60CB-8F6ED47E34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100181"/>
            <a:ext cx="3962400" cy="222441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8326545-A208-5799-C1CA-E22CF7500799}"/>
              </a:ext>
            </a:extLst>
          </p:cNvPr>
          <p:cNvSpPr/>
          <p:nvPr/>
        </p:nvSpPr>
        <p:spPr>
          <a:xfrm>
            <a:off x="5105400" y="1142255"/>
            <a:ext cx="1219200" cy="3077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Insights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CFA2BF-2080-7BD1-99F6-CFA2C3C862AE}"/>
              </a:ext>
            </a:extLst>
          </p:cNvPr>
          <p:cNvSpPr/>
          <p:nvPr/>
        </p:nvSpPr>
        <p:spPr>
          <a:xfrm>
            <a:off x="5114544" y="4177468"/>
            <a:ext cx="1219200" cy="3077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Insights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52ED07-E263-EC2D-7624-AE6421418F7C}"/>
              </a:ext>
            </a:extLst>
          </p:cNvPr>
          <p:cNvSpPr txBox="1"/>
          <p:nvPr/>
        </p:nvSpPr>
        <p:spPr>
          <a:xfrm>
            <a:off x="5105400" y="1752600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Star wars &amp; Avatar movies generate high revenues when compared to other movies</a:t>
            </a:r>
            <a:endParaRPr lang="en-IN" sz="18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2D864C7-9CD2-6C5D-ABC2-955AC35C300E}"/>
              </a:ext>
            </a:extLst>
          </p:cNvPr>
          <p:cNvSpPr txBox="1"/>
          <p:nvPr/>
        </p:nvSpPr>
        <p:spPr>
          <a:xfrm>
            <a:off x="5029200" y="4702837"/>
            <a:ext cx="60944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Abrams Leads the Pack:</a:t>
            </a:r>
            <a:r>
              <a:rPr lang="en-US" sz="1600" dirty="0"/>
              <a:t> </a:t>
            </a:r>
            <a:r>
              <a:rPr lang="en-US" sz="1600" b="1" dirty="0"/>
              <a:t>J.J. Abrams</a:t>
            </a:r>
            <a:r>
              <a:rPr lang="en-US" sz="1600" dirty="0"/>
              <a:t> is the top-grossing director shown, just ahead of David Yates.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7864358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CEA0B1C3-F9B6-0588-6808-2535969F5B6A}"/>
              </a:ext>
            </a:extLst>
          </p:cNvPr>
          <p:cNvSpPr txBox="1"/>
          <p:nvPr/>
        </p:nvSpPr>
        <p:spPr>
          <a:xfrm>
            <a:off x="518806" y="381000"/>
            <a:ext cx="72535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Which genres have the highest number of movies released?</a:t>
            </a:r>
            <a:endParaRPr lang="en-IN" sz="18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47D3B0-57EC-A8B5-A5E5-E81A83D443FF}"/>
              </a:ext>
            </a:extLst>
          </p:cNvPr>
          <p:cNvSpPr txBox="1"/>
          <p:nvPr/>
        </p:nvSpPr>
        <p:spPr>
          <a:xfrm>
            <a:off x="5105400" y="1752600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Action–Adventure is both the highest genre and the most common genre</a:t>
            </a:r>
            <a:endParaRPr lang="en-IN" sz="18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A634D87-38E9-8DE6-EFCF-DF7E152ED061}"/>
              </a:ext>
            </a:extLst>
          </p:cNvPr>
          <p:cNvSpPr/>
          <p:nvPr/>
        </p:nvSpPr>
        <p:spPr>
          <a:xfrm>
            <a:off x="5105400" y="1142255"/>
            <a:ext cx="1219200" cy="3077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Insights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6CEC3AC-4D1A-4A34-6EE6-65BAC9AAD2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108" y="4206521"/>
            <a:ext cx="4004691" cy="235536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84A01E2-9659-A0F9-5BC2-ECA7400C9318}"/>
              </a:ext>
            </a:extLst>
          </p:cNvPr>
          <p:cNvSpPr txBox="1"/>
          <p:nvPr/>
        </p:nvSpPr>
        <p:spPr>
          <a:xfrm>
            <a:off x="518806" y="3721486"/>
            <a:ext cx="6629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Which genre generates the highest average revenue?</a:t>
            </a:r>
            <a:endParaRPr lang="en-IN" sz="1800" b="1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8C769C6-E61B-3A32-2AA5-42ADBBADCF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013" y="939308"/>
            <a:ext cx="4010787" cy="2642092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8AD48203-42C3-25C6-734F-E179E77E9E0F}"/>
              </a:ext>
            </a:extLst>
          </p:cNvPr>
          <p:cNvSpPr/>
          <p:nvPr/>
        </p:nvSpPr>
        <p:spPr>
          <a:xfrm>
            <a:off x="5105400" y="4371945"/>
            <a:ext cx="1219200" cy="3077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Insights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34D5D4B-5FB5-0B46-B58C-CECDFD6BC7B2}"/>
              </a:ext>
            </a:extLst>
          </p:cNvPr>
          <p:cNvSpPr txBox="1"/>
          <p:nvPr/>
        </p:nvSpPr>
        <p:spPr>
          <a:xfrm>
            <a:off x="5111496" y="4930176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Animation movies show the highest average revenue (~190–200</a:t>
            </a:r>
            <a:r>
              <a:rPr lang="en-US" sz="1800" b="1" dirty="0"/>
              <a:t>)</a:t>
            </a:r>
            <a:r>
              <a:rPr lang="en-US" sz="1800" dirty="0"/>
              <a:t>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6950911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42E957-C316-40BB-98CD-E563EFCED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1" y="914400"/>
            <a:ext cx="3352800" cy="20574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03CFFD-DEF7-9FAB-8F42-49081F23FE87}"/>
              </a:ext>
            </a:extLst>
          </p:cNvPr>
          <p:cNvSpPr txBox="1"/>
          <p:nvPr/>
        </p:nvSpPr>
        <p:spPr>
          <a:xfrm>
            <a:off x="609600" y="457200"/>
            <a:ext cx="6781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Which genre combination receives the highest number of average votes?</a:t>
            </a:r>
            <a:endParaRPr lang="en-IN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719603-A797-736F-E641-0B508206E5B7}"/>
              </a:ext>
            </a:extLst>
          </p:cNvPr>
          <p:cNvSpPr/>
          <p:nvPr/>
        </p:nvSpPr>
        <p:spPr>
          <a:xfrm>
            <a:off x="4724400" y="1219200"/>
            <a:ext cx="1219200" cy="3077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Insights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0AF635-DA5F-A00E-AA32-02D13C39637E}"/>
              </a:ext>
            </a:extLst>
          </p:cNvPr>
          <p:cNvSpPr txBox="1"/>
          <p:nvPr/>
        </p:nvSpPr>
        <p:spPr>
          <a:xfrm>
            <a:off x="4648200" y="1827311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Drama–Western receives the highest average votes</a:t>
            </a:r>
            <a:r>
              <a:rPr lang="en-US" dirty="0"/>
              <a:t>.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3B21E64-9D57-179B-D8B9-4211E46C3B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1" y="3886200"/>
            <a:ext cx="3352800" cy="241968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7064C23-6B50-7400-4D73-B1746FAA201C}"/>
              </a:ext>
            </a:extLst>
          </p:cNvPr>
          <p:cNvSpPr txBox="1"/>
          <p:nvPr/>
        </p:nvSpPr>
        <p:spPr>
          <a:xfrm>
            <a:off x="600494" y="3336626"/>
            <a:ext cx="1006750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Which years shows the most significant </a:t>
            </a:r>
            <a:r>
              <a:rPr lang="en-US" sz="1600" b="1" i="1" dirty="0"/>
              <a:t>percentage</a:t>
            </a:r>
            <a:r>
              <a:rPr lang="en-US" sz="1600" b="1" dirty="0"/>
              <a:t> increase in the number of titles released ?</a:t>
            </a:r>
            <a:endParaRPr lang="en-IN" sz="1600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FBD442E-C8D4-F52F-404F-40FCD12D950E}"/>
              </a:ext>
            </a:extLst>
          </p:cNvPr>
          <p:cNvSpPr/>
          <p:nvPr/>
        </p:nvSpPr>
        <p:spPr>
          <a:xfrm>
            <a:off x="4648200" y="4009228"/>
            <a:ext cx="1219200" cy="3077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Insights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8BAB10-B54F-8DAF-2F02-DA66EA89F291}"/>
              </a:ext>
            </a:extLst>
          </p:cNvPr>
          <p:cNvSpPr txBox="1"/>
          <p:nvPr/>
        </p:nvSpPr>
        <p:spPr>
          <a:xfrm>
            <a:off x="4645152" y="4661358"/>
            <a:ext cx="6781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There is a consistent linear growth in the number of titles produced/tracked over the years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8655778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2DF2926-7801-19E5-AE88-8A911D47F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00763"/>
            <a:ext cx="4439270" cy="234347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10B9A91-8A54-5607-1EF2-EE6073884A6E}"/>
              </a:ext>
            </a:extLst>
          </p:cNvPr>
          <p:cNvSpPr txBox="1"/>
          <p:nvPr/>
        </p:nvSpPr>
        <p:spPr>
          <a:xfrm>
            <a:off x="533400" y="533400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Average Runtime by Year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09E5AD-2976-4BEC-F19A-64202B36C0C0}"/>
              </a:ext>
            </a:extLst>
          </p:cNvPr>
          <p:cNvSpPr/>
          <p:nvPr/>
        </p:nvSpPr>
        <p:spPr>
          <a:xfrm>
            <a:off x="5638800" y="1143000"/>
            <a:ext cx="1219200" cy="3077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Insights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FE89EB-887D-A6E3-E3E5-E0A61F9AC7F0}"/>
              </a:ext>
            </a:extLst>
          </p:cNvPr>
          <p:cNvSpPr txBox="1"/>
          <p:nvPr/>
        </p:nvSpPr>
        <p:spPr>
          <a:xfrm>
            <a:off x="5486400" y="1755377"/>
            <a:ext cx="60944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The average movie runtime is </a:t>
            </a:r>
            <a:r>
              <a:rPr lang="en-US" sz="1600" b="1" dirty="0"/>
              <a:t>not stable</a:t>
            </a:r>
            <a:r>
              <a:rPr lang="en-US" sz="1600" dirty="0"/>
              <a:t>, fluctuating significantly between approximately 110 minutes and 125 minutes.</a:t>
            </a:r>
            <a:endParaRPr lang="en-IN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E0AEE3-CF89-FD95-9BF1-AA3BA1C0C8EA}"/>
              </a:ext>
            </a:extLst>
          </p:cNvPr>
          <p:cNvSpPr txBox="1"/>
          <p:nvPr/>
        </p:nvSpPr>
        <p:spPr>
          <a:xfrm>
            <a:off x="685800" y="3794560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Average Votes by Year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7D8E941-1A7D-C7F7-58D7-5BEAB7066F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585" y="4272501"/>
            <a:ext cx="4414886" cy="240063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632D9817-0144-0101-10AA-D8F70C1268A2}"/>
              </a:ext>
            </a:extLst>
          </p:cNvPr>
          <p:cNvSpPr/>
          <p:nvPr/>
        </p:nvSpPr>
        <p:spPr>
          <a:xfrm>
            <a:off x="5561076" y="4272501"/>
            <a:ext cx="1219200" cy="3077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Insights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6F8C31-A5E4-CBE9-75EB-580C58D31AF4}"/>
              </a:ext>
            </a:extLst>
          </p:cNvPr>
          <p:cNvSpPr txBox="1"/>
          <p:nvPr/>
        </p:nvSpPr>
        <p:spPr>
          <a:xfrm>
            <a:off x="5486400" y="4800600"/>
            <a:ext cx="60944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As measured by </a:t>
            </a:r>
            <a:r>
              <a:rPr lang="en-US" sz="1600" b="1" dirty="0"/>
              <a:t>Average Votes</a:t>
            </a:r>
            <a:r>
              <a:rPr lang="en-US" sz="1600" dirty="0"/>
              <a:t>, was highest in the middle of the period (around 2010-2013).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7798900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49C2162-4F84-4774-5AF9-81E4D8335770}"/>
              </a:ext>
            </a:extLst>
          </p:cNvPr>
          <p:cNvSpPr txBox="1"/>
          <p:nvPr/>
        </p:nvSpPr>
        <p:spPr>
          <a:xfrm>
            <a:off x="685800" y="606271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Total Revenue by Year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52C909-0451-6D7A-01E4-365BACBBC2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370" y="1143000"/>
            <a:ext cx="3185230" cy="17526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42FC382-73EA-3ABD-72C4-4835A5F09665}"/>
              </a:ext>
            </a:extLst>
          </p:cNvPr>
          <p:cNvSpPr/>
          <p:nvPr/>
        </p:nvSpPr>
        <p:spPr>
          <a:xfrm>
            <a:off x="4648200" y="1164336"/>
            <a:ext cx="1219200" cy="3077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Insights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7B3E70-F309-E9FF-607B-920A957B4C33}"/>
              </a:ext>
            </a:extLst>
          </p:cNvPr>
          <p:cNvSpPr txBox="1"/>
          <p:nvPr/>
        </p:nvSpPr>
        <p:spPr>
          <a:xfrm>
            <a:off x="4495800" y="1828800"/>
            <a:ext cx="60944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The </a:t>
            </a:r>
            <a:r>
              <a:rPr lang="en-US" sz="1600" b="1" dirty="0"/>
              <a:t>Total Revenue</a:t>
            </a:r>
            <a:r>
              <a:rPr lang="en-US" sz="1600" dirty="0"/>
              <a:t> for the industry or dataset showed a strong and </a:t>
            </a:r>
            <a:r>
              <a:rPr lang="en-US" sz="1600" b="1" dirty="0"/>
              <a:t>consistent upward trend</a:t>
            </a:r>
            <a:r>
              <a:rPr lang="en-US" sz="1600" dirty="0"/>
              <a:t> over the entire period</a:t>
            </a:r>
            <a:endParaRPr lang="en-IN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0738D7-BE7F-3A60-F3E4-E1FFDAB27929}"/>
              </a:ext>
            </a:extLst>
          </p:cNvPr>
          <p:cNvSpPr txBox="1"/>
          <p:nvPr/>
        </p:nvSpPr>
        <p:spPr>
          <a:xfrm>
            <a:off x="565404" y="3379465"/>
            <a:ext cx="78165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sz="1800" b="1" dirty="0"/>
              <a:t>Average Rating, Average Runtime and Total Revenue by Year</a:t>
            </a:r>
            <a:endParaRPr lang="en-IN" sz="1800" b="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D1B88C2-E8B3-7AF2-6138-C13432F880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986" y="3879778"/>
            <a:ext cx="3666814" cy="267342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C4ECE18-35B5-50E1-1F1F-1F4397FFB154}"/>
              </a:ext>
            </a:extLst>
          </p:cNvPr>
          <p:cNvSpPr/>
          <p:nvPr/>
        </p:nvSpPr>
        <p:spPr>
          <a:xfrm>
            <a:off x="4724400" y="4078773"/>
            <a:ext cx="1219200" cy="3077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Insights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52B9F0-3B64-1359-11A7-ADF92B4133B0}"/>
              </a:ext>
            </a:extLst>
          </p:cNvPr>
          <p:cNvSpPr txBox="1"/>
          <p:nvPr/>
        </p:nvSpPr>
        <p:spPr>
          <a:xfrm>
            <a:off x="4648964" y="4572000"/>
            <a:ext cx="60944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The primary insight is a strong </a:t>
            </a:r>
            <a:r>
              <a:rPr lang="en-US" sz="1600" b="1" dirty="0"/>
              <a:t>inverse relationship</a:t>
            </a:r>
            <a:r>
              <a:rPr lang="en-US" sz="1600" dirty="0"/>
              <a:t> between Average Rating and Total Revenue: </a:t>
            </a:r>
            <a:r>
              <a:rPr lang="en-US" sz="1600" b="1" dirty="0"/>
              <a:t>financial success is increasing while critical perception is decreasing.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8087735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F3528-0031-2A98-F112-E2F81E505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Benefits of Movie Sales Analytics</a:t>
            </a:r>
            <a:endParaRPr lang="en-IN" sz="3600" b="1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B88F7CA-B828-AFBA-B8FE-9540C36166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355467"/>
            <a:ext cx="998220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IN" sz="2400" dirty="0"/>
              <a:t>Improved Revenue Forecasting</a:t>
            </a:r>
          </a:p>
          <a:p>
            <a:pPr marL="34290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IN" sz="2400" dirty="0"/>
              <a:t>Better Budget Allocation</a:t>
            </a:r>
          </a:p>
          <a:p>
            <a:pPr marL="34290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IN" sz="2400" dirty="0"/>
              <a:t>Understanding Audience Behaviour</a:t>
            </a:r>
          </a:p>
          <a:p>
            <a:pPr marL="34290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IN" sz="2400" dirty="0"/>
              <a:t>Optimized Marketing Strategies</a:t>
            </a:r>
          </a:p>
          <a:p>
            <a:pPr marL="34290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IN" sz="2400" dirty="0"/>
              <a:t>Genre &amp; Cast Performance Insights</a:t>
            </a:r>
          </a:p>
          <a:p>
            <a:pPr marL="34290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IN" sz="2400" dirty="0"/>
              <a:t>Data-Driven Release Planning</a:t>
            </a:r>
          </a:p>
          <a:p>
            <a:pPr marL="34290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</a:pPr>
            <a:r>
              <a:rPr lang="en-IN" sz="2400" dirty="0"/>
              <a:t>Reduced Financial Risk</a:t>
            </a:r>
            <a:br>
              <a:rPr lang="en-IN" sz="2400" dirty="0"/>
            </a:b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48756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A60FA-E0D0-FBE9-631B-29970D7FB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Conclusion 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E8248F-8EE6-999B-B829-D4A6014BFE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Movie Sales Analytics enables data-driven decisions that improve the accuracy of revenue forecasting and increase the chances of movie success.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90798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2146</TotalTime>
  <Words>509</Words>
  <Application>Microsoft Office PowerPoint</Application>
  <PresentationFormat>Widescreen</PresentationFormat>
  <Paragraphs>84</Paragraphs>
  <Slides>15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Algerian</vt:lpstr>
      <vt:lpstr>Times New Roman</vt:lpstr>
      <vt:lpstr>Libre Baskerville</vt:lpstr>
      <vt:lpstr>Calibri</vt:lpstr>
      <vt:lpstr>Wingdings</vt:lpstr>
      <vt:lpstr>Arial</vt:lpstr>
      <vt:lpstr>Office Theme</vt:lpstr>
      <vt:lpstr>PowerPoint Presentation</vt:lpstr>
      <vt:lpstr>Contents</vt:lpstr>
      <vt:lpstr>Introduction :</vt:lpstr>
      <vt:lpstr>Problem Statement :</vt:lpstr>
      <vt:lpstr>Objective :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Benefits of Movie Sales Analytics</vt:lpstr>
      <vt:lpstr>Conclusion 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Raghu Ram Aduri</dc:creator>
  <cp:lastModifiedBy>Santhosh Guguloth</cp:lastModifiedBy>
  <cp:revision>131</cp:revision>
  <dcterms:created xsi:type="dcterms:W3CDTF">2021-02-16T05:19:01Z</dcterms:created>
  <dcterms:modified xsi:type="dcterms:W3CDTF">2025-11-15T07:39:17Z</dcterms:modified>
</cp:coreProperties>
</file>